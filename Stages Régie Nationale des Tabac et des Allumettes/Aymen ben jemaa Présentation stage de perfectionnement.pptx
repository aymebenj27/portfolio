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notesMasterIdLst>
    <p:notesMasterId r:id="rId21"/>
  </p:notesMasterIdLst>
  <p:sldIdLst>
    <p:sldId id="256" r:id="rId2"/>
    <p:sldId id="257" r:id="rId3"/>
    <p:sldId id="258" r:id="rId4"/>
    <p:sldId id="272" r:id="rId5"/>
    <p:sldId id="259" r:id="rId6"/>
    <p:sldId id="277" r:id="rId7"/>
    <p:sldId id="279" r:id="rId8"/>
    <p:sldId id="281" r:id="rId9"/>
    <p:sldId id="261" r:id="rId10"/>
    <p:sldId id="282" r:id="rId11"/>
    <p:sldId id="283" r:id="rId12"/>
    <p:sldId id="285" r:id="rId13"/>
    <p:sldId id="286" r:id="rId14"/>
    <p:sldId id="284" r:id="rId15"/>
    <p:sldId id="287" r:id="rId16"/>
    <p:sldId id="288" r:id="rId17"/>
    <p:sldId id="289" r:id="rId18"/>
    <p:sldId id="262" r:id="rId19"/>
    <p:sldId id="263" r:id="rId20"/>
  </p:sldIdLst>
  <p:sldSz cx="9144000" cy="6858000" type="screen4x3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1522" y="-14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="" xmlns:a16="http://schemas.microsoft.com/office/drawing/2014/main" id="{D0500E8D-25B2-4289-A570-A71A4E5EB56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fr-FR" altLang="en-US" dirty="0"/>
          </a:p>
        </p:txBody>
      </p:sp>
      <p:sp>
        <p:nvSpPr>
          <p:cNvPr id="7171" name="Rectangle 3">
            <a:extLst>
              <a:ext uri="{FF2B5EF4-FFF2-40B4-BE49-F238E27FC236}">
                <a16:creationId xmlns="" xmlns:a16="http://schemas.microsoft.com/office/drawing/2014/main" id="{E761DA57-356C-4D9D-9B2A-229AF02EA01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fr-FR" altLang="en-US" dirty="0"/>
          </a:p>
        </p:txBody>
      </p:sp>
      <p:sp>
        <p:nvSpPr>
          <p:cNvPr id="7172" name="Rectangle 4">
            <a:extLst>
              <a:ext uri="{FF2B5EF4-FFF2-40B4-BE49-F238E27FC236}">
                <a16:creationId xmlns="" xmlns:a16="http://schemas.microsoft.com/office/drawing/2014/main" id="{7CFF6B0E-EE08-4127-B48F-24B51A35A28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3" name="Rectangle 5">
            <a:extLst>
              <a:ext uri="{FF2B5EF4-FFF2-40B4-BE49-F238E27FC236}">
                <a16:creationId xmlns="" xmlns:a16="http://schemas.microsoft.com/office/drawing/2014/main" id="{4EA81BA4-DBF4-4F7C-8662-C5AEC3B880C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en-US"/>
              <a:t>Cliquez pour modifier les styles du texte du masque</a:t>
            </a:r>
          </a:p>
          <a:p>
            <a:pPr lvl="1"/>
            <a:r>
              <a:rPr lang="fr-FR" altLang="en-US"/>
              <a:t>Deuxième niveau</a:t>
            </a:r>
          </a:p>
          <a:p>
            <a:pPr lvl="2"/>
            <a:r>
              <a:rPr lang="fr-FR" altLang="en-US"/>
              <a:t>Troisième niveau</a:t>
            </a:r>
          </a:p>
          <a:p>
            <a:pPr lvl="3"/>
            <a:r>
              <a:rPr lang="fr-FR" altLang="en-US"/>
              <a:t>Quatrième niveau</a:t>
            </a:r>
          </a:p>
          <a:p>
            <a:pPr lvl="4"/>
            <a:r>
              <a:rPr lang="fr-FR" altLang="en-US"/>
              <a:t>Cinquième niveau</a:t>
            </a:r>
          </a:p>
        </p:txBody>
      </p:sp>
      <p:sp>
        <p:nvSpPr>
          <p:cNvPr id="7174" name="Rectangle 6">
            <a:extLst>
              <a:ext uri="{FF2B5EF4-FFF2-40B4-BE49-F238E27FC236}">
                <a16:creationId xmlns="" xmlns:a16="http://schemas.microsoft.com/office/drawing/2014/main" id="{B913640C-9A03-4D68-98C1-97C89BFC43F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fr-FR" altLang="en-US" dirty="0"/>
          </a:p>
        </p:txBody>
      </p:sp>
      <p:sp>
        <p:nvSpPr>
          <p:cNvPr id="7175" name="Rectangle 7">
            <a:extLst>
              <a:ext uri="{FF2B5EF4-FFF2-40B4-BE49-F238E27FC236}">
                <a16:creationId xmlns="" xmlns:a16="http://schemas.microsoft.com/office/drawing/2014/main" id="{286313AB-7AEC-4F0E-AB55-265C48554A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FAD0786-CD28-4048-AAF0-2044DD274CCE}" type="slidenum">
              <a:rPr lang="fr-FR" altLang="en-US"/>
              <a:pPr/>
              <a:t>‹N°›</a:t>
            </a:fld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227464964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ndir un rectangle avec un coin diagonal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fr-FR" smtClean="0"/>
              <a:t>Modifiez le style des sous-titres du masque</a:t>
            </a:r>
            <a:endParaRPr kumimoji="0" lang="en-US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endParaRPr lang="fr-FR" altLang="en-US" dirty="0"/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336F2E39-D56D-4300-A995-ACA482FEB4BB}" type="slidenum">
              <a:rPr lang="fr-FR" altLang="en-US" smtClean="0"/>
              <a:pPr/>
              <a:t>‹N°›</a:t>
            </a:fld>
            <a:endParaRPr lang="fr-FR" altLang="en-US" dirty="0"/>
          </a:p>
        </p:txBody>
      </p:sp>
      <p:sp>
        <p:nvSpPr>
          <p:cNvPr id="12" name="Espace réservé du pied de page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fr-FR" alt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fr-FR" alt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 alt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36F2E39-D56D-4300-A995-ACA482FEB4BB}" type="slidenum">
              <a:rPr lang="fr-FR" altLang="en-US" smtClean="0"/>
              <a:pPr/>
              <a:t>‹N°›</a:t>
            </a:fld>
            <a:endParaRPr lang="fr-FR" altLang="en-US" dirty="0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endParaRPr lang="fr-FR" altLang="en-US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336F2E39-D56D-4300-A995-ACA482FEB4BB}" type="slidenum">
              <a:rPr lang="fr-FR" altLang="en-US" smtClean="0"/>
              <a:pPr/>
              <a:t>‹N°›</a:t>
            </a:fld>
            <a:endParaRPr lang="fr-FR" altLang="en-US" dirty="0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fr-FR" alt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fr-FR" alt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 alt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336F2E39-D56D-4300-A995-ACA482FEB4BB}" type="slidenum">
              <a:rPr lang="fr-FR" altLang="en-US" smtClean="0"/>
              <a:pPr/>
              <a:t>‹N°›</a:t>
            </a:fld>
            <a:endParaRPr lang="fr-FR" altLang="en-US" dirty="0"/>
          </a:p>
        </p:txBody>
      </p:sp>
      <p:sp>
        <p:nvSpPr>
          <p:cNvPr id="10" name="Rectangle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fr-FR" altLang="en-US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 altLang="en-US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336F2E39-D56D-4300-A995-ACA482FEB4BB}" type="slidenum">
              <a:rPr lang="fr-FR" altLang="en-US" smtClean="0"/>
              <a:pPr/>
              <a:t>‹N°›</a:t>
            </a:fld>
            <a:endParaRPr lang="fr-FR" alt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>
            <a:extLst/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fr-FR" altLang="en-US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 alt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36F2E39-D56D-4300-A995-ACA482FEB4BB}" type="slidenum">
              <a:rPr lang="fr-FR" altLang="en-US" smtClean="0"/>
              <a:pPr/>
              <a:t>‹N°›</a:t>
            </a:fld>
            <a:endParaRPr lang="fr-FR" altLang="en-US" dirty="0"/>
          </a:p>
        </p:txBody>
      </p:sp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fr-FR" alt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 alt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36F2E39-D56D-4300-A995-ACA482FEB4BB}" type="slidenum">
              <a:rPr lang="fr-FR" altLang="en-US" smtClean="0"/>
              <a:pPr/>
              <a:t>‹N°›</a:t>
            </a:fld>
            <a:endParaRPr lang="fr-FR" altLang="en-US" dirty="0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9" name="Espace réservé de la date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endParaRPr lang="fr-FR" altLang="en-US" dirty="0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336F2E39-D56D-4300-A995-ACA482FEB4BB}" type="slidenum">
              <a:rPr lang="fr-FR" altLang="en-US" smtClean="0"/>
              <a:pPr/>
              <a:t>‹N°›</a:t>
            </a:fld>
            <a:endParaRPr lang="fr-FR" altLang="en-US" dirty="0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fr-FR" alt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13" name="Espace réservé pour une image 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fr-FR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Cliquez sur l'icône pour ajouter une image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endParaRPr lang="fr-FR" altLang="en-US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336F2E39-D56D-4300-A995-ACA482FEB4BB}" type="slidenum">
              <a:rPr lang="fr-FR" altLang="en-US" smtClean="0"/>
              <a:pPr/>
              <a:t>‹N°›</a:t>
            </a:fld>
            <a:endParaRPr lang="fr-FR" altLang="en-US" dirty="0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fr-FR" altLang="en-US" dirty="0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fr-FR" alt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 alt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36F2E39-D56D-4300-A995-ACA482FEB4BB}" type="slidenum">
              <a:rPr lang="fr-FR" altLang="en-US" smtClean="0"/>
              <a:pPr/>
              <a:t>‹N°›</a:t>
            </a:fld>
            <a:endParaRPr lang="fr-FR" alt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fr-FR" alt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 alt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36F2E39-D56D-4300-A995-ACA482FEB4BB}" type="slidenum">
              <a:rPr lang="fr-FR" altLang="en-US" smtClean="0"/>
              <a:pPr/>
              <a:t>‹N°›</a:t>
            </a:fld>
            <a:endParaRPr lang="fr-FR" altLang="en-US" dirty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ndir un rectangle avec un coin diagonal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fr-FR" altLang="en-US" dirty="0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fr-FR" altLang="en-US" dirty="0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336F2E39-D56D-4300-A995-ACA482FEB4BB}" type="slidenum">
              <a:rPr lang="fr-FR" altLang="en-US" smtClean="0"/>
              <a:pPr/>
              <a:t>‹N°›</a:t>
            </a:fld>
            <a:endParaRPr lang="fr-FR" altLang="en-US" dirty="0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>
            <a:extLst/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hf hdr="0" ftr="0" dt="0"/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="" xmlns:a16="http://schemas.microsoft.com/office/drawing/2014/main" id="{BAC848BC-D956-4AB2-B0A7-A41FFB38FFB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altLang="en-US" sz="4600" dirty="0"/>
              <a:t>P</a:t>
            </a:r>
            <a:r>
              <a:rPr lang="fr-FR" altLang="en-US" sz="4600" dirty="0" smtClean="0"/>
              <a:t>résentation </a:t>
            </a:r>
            <a:r>
              <a:rPr lang="fr-FR" altLang="en-US" sz="4600" dirty="0"/>
              <a:t>du </a:t>
            </a:r>
            <a:r>
              <a:rPr lang="fr-FR" altLang="en-US" sz="4600" dirty="0" smtClean="0"/>
              <a:t>stage de </a:t>
            </a:r>
            <a:r>
              <a:rPr lang="fr-FR" altLang="en-US" sz="4600" dirty="0" smtClean="0"/>
              <a:t>perfectionnement</a:t>
            </a:r>
            <a:endParaRPr lang="fr-FR" altLang="en-US" sz="4600" dirty="0"/>
          </a:p>
        </p:txBody>
      </p:sp>
      <p:sp>
        <p:nvSpPr>
          <p:cNvPr id="2052" name="Text Box 4">
            <a:extLst>
              <a:ext uri="{FF2B5EF4-FFF2-40B4-BE49-F238E27FC236}">
                <a16:creationId xmlns="" xmlns:a16="http://schemas.microsoft.com/office/drawing/2014/main" id="{EF35C396-2EAE-414B-9B19-2A933951EE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260350"/>
            <a:ext cx="6048375" cy="725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altLang="en-US" sz="1600" b="1" dirty="0"/>
              <a:t>Institut Supérieur des Études Technologiques de </a:t>
            </a:r>
            <a:r>
              <a:rPr lang="fr-FR" altLang="en-US" sz="1600" b="1" dirty="0" smtClean="0"/>
              <a:t>Bizerte</a:t>
            </a:r>
            <a:endParaRPr lang="fr-FR" altLang="en-US" sz="1600" b="1" dirty="0"/>
          </a:p>
          <a:p>
            <a:pPr algn="ctr">
              <a:spcBef>
                <a:spcPct val="50000"/>
              </a:spcBef>
            </a:pPr>
            <a:r>
              <a:rPr lang="fr-FR" altLang="en-US" sz="1700" b="1" dirty="0"/>
              <a:t>Département </a:t>
            </a:r>
            <a:r>
              <a:rPr lang="fr-FR" altLang="en-US" sz="1700" b="1" dirty="0" smtClean="0"/>
              <a:t>Génie électrique</a:t>
            </a:r>
            <a:endParaRPr lang="fr-FR" altLang="en-US" sz="1700" b="1" dirty="0"/>
          </a:p>
        </p:txBody>
      </p:sp>
      <p:sp>
        <p:nvSpPr>
          <p:cNvPr id="2053" name="Text Box 5">
            <a:extLst>
              <a:ext uri="{FF2B5EF4-FFF2-40B4-BE49-F238E27FC236}">
                <a16:creationId xmlns="" xmlns:a16="http://schemas.microsoft.com/office/drawing/2014/main" id="{C0F8A899-2F32-43F4-ACF6-83F53495B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775" y="4430713"/>
            <a:ext cx="165576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altLang="en-US" b="1" dirty="0" err="1" smtClean="0">
                <a:solidFill>
                  <a:schemeClr val="bg2"/>
                </a:solidFill>
              </a:rPr>
              <a:t>Élaboréélaboré</a:t>
            </a:r>
            <a:r>
              <a:rPr lang="fr-FR" altLang="en-US" b="1" dirty="0" smtClean="0">
                <a:solidFill>
                  <a:schemeClr val="bg2"/>
                </a:solidFill>
              </a:rPr>
              <a:t> </a:t>
            </a:r>
            <a:r>
              <a:rPr lang="fr-FR" altLang="en-US" b="1" dirty="0">
                <a:solidFill>
                  <a:schemeClr val="bg2"/>
                </a:solidFill>
              </a:rPr>
              <a:t>par:</a:t>
            </a:r>
          </a:p>
        </p:txBody>
      </p:sp>
      <p:sp>
        <p:nvSpPr>
          <p:cNvPr id="2054" name="Text Box 6">
            <a:extLst>
              <a:ext uri="{FF2B5EF4-FFF2-40B4-BE49-F238E27FC236}">
                <a16:creationId xmlns="" xmlns:a16="http://schemas.microsoft.com/office/drawing/2014/main" id="{268CD351-41BC-4F86-B432-F8FD40C391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363" y="4430713"/>
            <a:ext cx="23764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altLang="en-US" b="1" dirty="0">
                <a:solidFill>
                  <a:schemeClr val="bg2"/>
                </a:solidFill>
              </a:rPr>
              <a:t>Encadré </a:t>
            </a:r>
            <a:r>
              <a:rPr lang="fr-FR" altLang="en-US" b="1" dirty="0" err="1" smtClean="0">
                <a:solidFill>
                  <a:schemeClr val="bg2"/>
                </a:solidFill>
              </a:rPr>
              <a:t>par:en</a:t>
            </a:r>
            <a:endParaRPr lang="fr-FR" altLang="en-US" b="1" dirty="0">
              <a:solidFill>
                <a:schemeClr val="bg2"/>
              </a:solidFill>
            </a:endParaRPr>
          </a:p>
        </p:txBody>
      </p:sp>
      <p:sp>
        <p:nvSpPr>
          <p:cNvPr id="2055" name="Text Box 7">
            <a:extLst>
              <a:ext uri="{FF2B5EF4-FFF2-40B4-BE49-F238E27FC236}">
                <a16:creationId xmlns="" xmlns:a16="http://schemas.microsoft.com/office/drawing/2014/main" id="{E8047F84-129D-4E66-98DA-376EC1F5E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8" y="6381750"/>
            <a:ext cx="37433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altLang="en-US" b="1" dirty="0"/>
              <a:t>Année Universitaire </a:t>
            </a:r>
            <a:r>
              <a:rPr lang="fr-FR" altLang="en-US" b="1" dirty="0" smtClean="0"/>
              <a:t>2021-2022</a:t>
            </a:r>
            <a:endParaRPr lang="fr-FR" altLang="en-US" b="1" dirty="0"/>
          </a:p>
        </p:txBody>
      </p:sp>
      <p:sp>
        <p:nvSpPr>
          <p:cNvPr id="2056" name="Text Box 8">
            <a:extLst>
              <a:ext uri="{FF2B5EF4-FFF2-40B4-BE49-F238E27FC236}">
                <a16:creationId xmlns="" xmlns:a16="http://schemas.microsoft.com/office/drawing/2014/main" id="{812F171B-FE0E-44CB-8083-8A2AEA683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826" y="4289593"/>
            <a:ext cx="288131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altLang="en-US" sz="2400" dirty="0" smtClean="0"/>
              <a:t>Elaboré par:</a:t>
            </a:r>
          </a:p>
          <a:p>
            <a:pPr>
              <a:spcBef>
                <a:spcPct val="50000"/>
              </a:spcBef>
            </a:pPr>
            <a:r>
              <a:rPr lang="fr-FR" altLang="en-US" sz="2400" dirty="0" err="1" smtClean="0"/>
              <a:t>Aymen</a:t>
            </a:r>
            <a:r>
              <a:rPr lang="fr-FR" altLang="en-US" sz="2400" dirty="0" smtClean="0"/>
              <a:t> </a:t>
            </a:r>
            <a:r>
              <a:rPr lang="fr-FR" altLang="en-US" sz="2400" dirty="0" smtClean="0"/>
              <a:t>ben </a:t>
            </a:r>
            <a:r>
              <a:rPr lang="fr-FR" altLang="en-US" sz="2400" dirty="0" err="1" smtClean="0"/>
              <a:t>jemaa</a:t>
            </a:r>
            <a:endParaRPr lang="fr-FR" altLang="en-US" sz="2400" dirty="0"/>
          </a:p>
        </p:txBody>
      </p:sp>
      <p:sp>
        <p:nvSpPr>
          <p:cNvPr id="2057" name="Text Box 9">
            <a:extLst>
              <a:ext uri="{FF2B5EF4-FFF2-40B4-BE49-F238E27FC236}">
                <a16:creationId xmlns="" xmlns:a16="http://schemas.microsoft.com/office/drawing/2014/main" id="{D1DBEE3E-213B-4A86-B09A-AC22EE7BA6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7831" y="4088288"/>
            <a:ext cx="288131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altLang="en-US" sz="2400" dirty="0" smtClean="0"/>
              <a:t>E</a:t>
            </a:r>
            <a:r>
              <a:rPr lang="fr-FR" altLang="en-US" sz="2400" dirty="0" smtClean="0"/>
              <a:t>ncadrant:</a:t>
            </a:r>
          </a:p>
          <a:p>
            <a:pPr>
              <a:spcBef>
                <a:spcPct val="50000"/>
              </a:spcBef>
            </a:pPr>
            <a:r>
              <a:rPr lang="fr-FR" altLang="en-US" sz="2400" dirty="0" err="1" smtClean="0"/>
              <a:t>Mr.taoufik</a:t>
            </a:r>
            <a:r>
              <a:rPr lang="fr-FR" altLang="en-US" sz="2400" dirty="0" smtClean="0"/>
              <a:t> </a:t>
            </a:r>
            <a:r>
              <a:rPr lang="fr-FR" altLang="en-US" sz="2400" dirty="0" err="1" smtClean="0"/>
              <a:t>sbouii</a:t>
            </a:r>
            <a:endParaRPr lang="fr-FR" altLang="en-US" sz="2400" dirty="0" smtClean="0"/>
          </a:p>
          <a:p>
            <a:pPr>
              <a:spcBef>
                <a:spcPct val="50000"/>
              </a:spcBef>
            </a:pPr>
            <a:r>
              <a:rPr lang="fr-FR" sz="2400" dirty="0"/>
              <a:t>Mr </a:t>
            </a:r>
            <a:r>
              <a:rPr lang="fr-FR" sz="2400" dirty="0" err="1"/>
              <a:t>Aymen</a:t>
            </a:r>
            <a:r>
              <a:rPr lang="fr-FR" sz="2400" dirty="0"/>
              <a:t> </a:t>
            </a:r>
            <a:r>
              <a:rPr lang="fr-FR" sz="2400" dirty="0" err="1"/>
              <a:t>Nasraoui</a:t>
            </a:r>
            <a:endParaRPr lang="fr-FR" altLang="en-US" sz="2400" dirty="0"/>
          </a:p>
        </p:txBody>
      </p:sp>
      <p:sp>
        <p:nvSpPr>
          <p:cNvPr id="2058" name="Text Box 10">
            <a:extLst>
              <a:ext uri="{FF2B5EF4-FFF2-40B4-BE49-F238E27FC236}">
                <a16:creationId xmlns="" xmlns:a16="http://schemas.microsoft.com/office/drawing/2014/main" id="{A05DF2E2-E14B-4E09-9461-DDE02E5B8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3824" y="2708920"/>
            <a:ext cx="39592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altLang="en-US" sz="2400" b="1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 </a:t>
            </a:r>
            <a:r>
              <a:rPr lang="fr-FR" sz="2400" dirty="0"/>
              <a:t>Effectué </a:t>
            </a:r>
            <a:r>
              <a:rPr lang="fr-FR" sz="2400" dirty="0" smtClean="0"/>
              <a:t>à:</a:t>
            </a:r>
            <a:r>
              <a:rPr lang="fr-FR" altLang="en-US" sz="2400" b="1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Régie </a:t>
            </a:r>
            <a:r>
              <a:rPr lang="fr-FR" altLang="en-US" sz="2400" b="1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Nationale des Tabacs et des Allumettes.</a:t>
            </a:r>
            <a:endParaRPr lang="fr-FR" altLang="en-US" sz="2400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060" name="Rectangle 12">
            <a:extLst>
              <a:ext uri="{FF2B5EF4-FFF2-40B4-BE49-F238E27FC236}">
                <a16:creationId xmlns="" xmlns:a16="http://schemas.microsoft.com/office/drawing/2014/main" id="{BFDD03B0-5B53-4305-AB04-0D8B703BF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6550" y="260350"/>
            <a:ext cx="914400" cy="914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3" name="Image 12" descr="Accueil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0064" y="321707"/>
            <a:ext cx="51816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AutoShape 2" descr="Etablissement d'enseignement supérieur privé | | Institut Supérieur des  Etudes Technologiques de Bizerte - ISET - Bizerte"/>
          <p:cNvSpPr>
            <a:spLocks noChangeAspect="1" noChangeArrowheads="1"/>
          </p:cNvSpPr>
          <p:nvPr/>
        </p:nvSpPr>
        <p:spPr bwMode="auto">
          <a:xfrm>
            <a:off x="155575" y="-830263"/>
            <a:ext cx="2562225" cy="1733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" name="AutoShape 4" descr="Etablissement d'enseignement supérieur privé | | Institut Supérieur des  Etudes Technologiques de Bizerte - ISET - Bizerte"/>
          <p:cNvSpPr>
            <a:spLocks noChangeAspect="1" noChangeArrowheads="1"/>
          </p:cNvSpPr>
          <p:nvPr/>
        </p:nvSpPr>
        <p:spPr bwMode="auto">
          <a:xfrm>
            <a:off x="307975" y="-677863"/>
            <a:ext cx="2562225" cy="1733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011" y="258207"/>
            <a:ext cx="1051630" cy="911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="" xmlns:a16="http://schemas.microsoft.com/office/drawing/2014/main" id="{0D0A4366-2E54-4A24-93C4-571090FD6C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altLang="en-US" b="1">
                <a:solidFill>
                  <a:schemeClr val="bg2"/>
                </a:solidFill>
              </a:rPr>
              <a:t>Plan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="" xmlns:a16="http://schemas.microsoft.com/office/drawing/2014/main" id="{0DA0DA90-EF7C-4CB2-942B-460A8DDC92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16013" y="1981200"/>
            <a:ext cx="7570787" cy="3886200"/>
          </a:xfrm>
        </p:spPr>
        <p:txBody>
          <a:bodyPr/>
          <a:lstStyle/>
          <a:p>
            <a:r>
              <a:rPr lang="fr-FR" altLang="en-US" sz="2800" dirty="0"/>
              <a:t>Présentation de la société</a:t>
            </a:r>
          </a:p>
          <a:p>
            <a:r>
              <a:rPr lang="fr-FR" altLang="en-US" sz="2800" dirty="0"/>
              <a:t>Contexte du </a:t>
            </a:r>
            <a:r>
              <a:rPr lang="fr-FR" altLang="en-US" sz="2800" dirty="0" smtClean="0"/>
              <a:t>stage</a:t>
            </a:r>
          </a:p>
          <a:p>
            <a:r>
              <a:rPr lang="fr-FR" sz="2800" dirty="0"/>
              <a:t>Chaine de fabrication de cigarettes</a:t>
            </a:r>
            <a:endParaRPr lang="fr-FR" altLang="en-US" sz="2800" dirty="0"/>
          </a:p>
          <a:p>
            <a:r>
              <a:rPr lang="fr-FR" altLang="en-US" sz="2800" dirty="0" smtClean="0"/>
              <a:t>Etude de Cas</a:t>
            </a:r>
            <a:endParaRPr lang="fr-FR" altLang="en-US" sz="2800" dirty="0"/>
          </a:p>
          <a:p>
            <a:r>
              <a:rPr lang="fr-FR" altLang="en-US" sz="2800" dirty="0"/>
              <a:t>Conclusion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2B182CB-A5EC-4720-AFF6-C3EADCD13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35708-F739-4211-8E0F-51D84D713144}" type="slidenum">
              <a:rPr lang="fr-FR" altLang="en-US"/>
              <a:pPr/>
              <a:t>2</a:t>
            </a:fld>
            <a:endParaRPr lang="fr-F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="" xmlns:a16="http://schemas.microsoft.com/office/drawing/2014/main" id="{3B53F60B-3166-447C-8171-E1FF459270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altLang="en-US" b="1" dirty="0">
                <a:solidFill>
                  <a:schemeClr val="bg2"/>
                </a:solidFill>
              </a:rPr>
              <a:t>Présentation de la société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="" xmlns:a16="http://schemas.microsoft.com/office/drawing/2014/main" id="{780A7908-055E-4B02-A1CF-0FCEEB5225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435975" cy="3886200"/>
          </a:xfrm>
        </p:spPr>
        <p:txBody>
          <a:bodyPr>
            <a:normAutofit lnSpcReduction="10000"/>
          </a:bodyPr>
          <a:lstStyle/>
          <a:p>
            <a:r>
              <a:rPr lang="fr-FR" sz="2800" dirty="0" smtClean="0"/>
              <a:t>    </a:t>
            </a:r>
            <a:r>
              <a:rPr lang="fr-FR" sz="2800" dirty="0"/>
              <a:t>L’agence nationale pour le tabac et les allumettes </a:t>
            </a:r>
            <a:r>
              <a:rPr lang="fr-FR" sz="2800" dirty="0" smtClean="0"/>
              <a:t>RNTA </a:t>
            </a:r>
            <a:r>
              <a:rPr lang="fr-FR" sz="2800" dirty="0"/>
              <a:t>a été crée en 1870 sous forme de régie rattaché au service de </a:t>
            </a:r>
            <a:r>
              <a:rPr lang="fr-FR" sz="2800" dirty="0" smtClean="0"/>
              <a:t>l’état. son principale rôle est d’exploiter le tabacs en Tunisie et de faire </a:t>
            </a:r>
            <a:r>
              <a:rPr lang="fr-FR" sz="2800" dirty="0"/>
              <a:t>l’objet d’un commerce international de plus en </a:t>
            </a:r>
            <a:r>
              <a:rPr lang="fr-FR" sz="2800" dirty="0" smtClean="0"/>
              <a:t>intense. </a:t>
            </a:r>
            <a:r>
              <a:rPr lang="fr-FR" sz="2800" dirty="0"/>
              <a:t>Elle est devenue actuellement un facteur </a:t>
            </a:r>
            <a:r>
              <a:rPr lang="fr-FR" sz="2800" dirty="0" smtClean="0"/>
              <a:t>important </a:t>
            </a:r>
            <a:r>
              <a:rPr lang="fr-FR" sz="2800" dirty="0"/>
              <a:t>dans l’alimentation des ressources financières des états </a:t>
            </a:r>
          </a:p>
          <a:p>
            <a:endParaRPr lang="fr-FR" altLang="en-US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5D0C645-9A54-4357-9A81-D4572828E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F515F-045C-4C22-B470-963EBED73710}" type="slidenum">
              <a:rPr lang="fr-FR" altLang="en-US"/>
              <a:pPr/>
              <a:t>3</a:t>
            </a:fld>
            <a:endParaRPr lang="fr-F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5536" y="1196752"/>
            <a:ext cx="8229600" cy="4968552"/>
          </a:xfrm>
        </p:spPr>
        <p:txBody>
          <a:bodyPr/>
          <a:lstStyle/>
          <a:p>
            <a:r>
              <a:rPr lang="fr-FR" sz="2800" dirty="0" smtClean="0"/>
              <a:t>Sa contribution présente </a:t>
            </a:r>
            <a:r>
              <a:rPr lang="fr-FR" sz="2800" dirty="0"/>
              <a:t>8% du budget tunisien du fait de son prix de vente, composé par plus de ¾ </a:t>
            </a:r>
            <a:r>
              <a:rPr lang="fr-FR" sz="2800" dirty="0" smtClean="0"/>
              <a:t>d’impôts directs</a:t>
            </a:r>
          </a:p>
          <a:p>
            <a:endParaRPr lang="fr-FR" sz="2800" dirty="0"/>
          </a:p>
          <a:p>
            <a:endParaRPr lang="fr-FR" sz="28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62BCB-31CD-4F4C-B66D-7267F72A4609}" type="slidenum">
              <a:rPr lang="fr-FR" altLang="en-US" smtClean="0"/>
              <a:pPr/>
              <a:t>4</a:t>
            </a:fld>
            <a:endParaRPr lang="fr-FR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780928"/>
            <a:ext cx="8424936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4067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="" xmlns:a16="http://schemas.microsoft.com/office/drawing/2014/main" id="{1DABEC78-31FD-47FB-84B2-2AA7435ACC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altLang="en-US" b="1" dirty="0">
                <a:solidFill>
                  <a:schemeClr val="bg2"/>
                </a:solidFill>
              </a:rPr>
              <a:t>Contexte du stage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="" xmlns:a16="http://schemas.microsoft.com/office/drawing/2014/main" id="{94375761-895B-4080-853F-C51C77C835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FR" altLang="en-US" sz="2800" dirty="0" smtClean="0"/>
              <a:t>l’</a:t>
            </a:r>
            <a:r>
              <a:rPr lang="fr-FR" altLang="en-US" sz="2800" dirty="0" smtClean="0">
                <a:solidFill>
                  <a:srgbClr val="0000FE"/>
                </a:solidFill>
              </a:rPr>
              <a:t>objectif</a:t>
            </a:r>
            <a:r>
              <a:rPr lang="fr-FR" altLang="en-US" sz="2800" dirty="0" smtClean="0"/>
              <a:t> de mon stage était de faire l’</a:t>
            </a:r>
            <a:r>
              <a:rPr lang="fr-FR" altLang="en-US" sz="2800" dirty="0"/>
              <a:t>é</a:t>
            </a:r>
            <a:r>
              <a:rPr lang="fr-FR" altLang="en-US" sz="2800" dirty="0" smtClean="0"/>
              <a:t>tude de la machine empaqueteuse </a:t>
            </a:r>
            <a:r>
              <a:rPr lang="fr-FR" altLang="en-US" sz="2800" dirty="0" err="1" smtClean="0"/>
              <a:t>Focke&amp;Co</a:t>
            </a:r>
            <a:r>
              <a:rPr lang="fr-FR" altLang="en-US" sz="2800" dirty="0" smtClean="0"/>
              <a:t> F5 et d’assister à la maintenance journalière et au calibrage et réglage de la chaine de production de cigarette.</a:t>
            </a:r>
          </a:p>
          <a:p>
            <a:endParaRPr lang="fr-FR" altLang="en-US" sz="2800" dirty="0" smtClean="0"/>
          </a:p>
          <a:p>
            <a:endParaRPr lang="fr-FR" altLang="en-US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5B42BFB5-4C64-4CBB-9E95-E34EAAF6A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E6BB9-0E8F-4F52-ACD1-3B7B0533DFD3}" type="slidenum">
              <a:rPr lang="fr-FR" altLang="en-US"/>
              <a:pPr/>
              <a:t>5</a:t>
            </a:fld>
            <a:endParaRPr lang="fr-F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11560" y="188640"/>
            <a:ext cx="7632848" cy="1371600"/>
          </a:xfrm>
        </p:spPr>
        <p:txBody>
          <a:bodyPr>
            <a:noAutofit/>
          </a:bodyPr>
          <a:lstStyle/>
          <a:p>
            <a:pPr algn="ctr"/>
            <a:r>
              <a:rPr lang="fr-FR" sz="3200" dirty="0" smtClean="0">
                <a:solidFill>
                  <a:schemeClr val="bg2">
                    <a:lumMod val="75000"/>
                  </a:schemeClr>
                </a:solidFill>
              </a:rPr>
              <a:t>Chaine de fabrication de cigarettes</a:t>
            </a:r>
            <a:endParaRPr lang="fr-FR" sz="32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62BCB-31CD-4F4C-B66D-7267F72A4609}" type="slidenum">
              <a:rPr lang="fr-FR" altLang="en-US" smtClean="0"/>
              <a:pPr/>
              <a:t>6</a:t>
            </a:fld>
            <a:endParaRPr lang="fr-FR" altLang="en-US" dirty="0"/>
          </a:p>
        </p:txBody>
      </p:sp>
      <p:sp>
        <p:nvSpPr>
          <p:cNvPr id="7" name="Rectangle 6"/>
          <p:cNvSpPr/>
          <p:nvPr/>
        </p:nvSpPr>
        <p:spPr>
          <a:xfrm>
            <a:off x="431540" y="1916832"/>
            <a:ext cx="3384376" cy="453650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 smtClean="0">
                <a:solidFill>
                  <a:schemeClr val="tx1"/>
                </a:solidFill>
              </a:rPr>
              <a:t>-VE</a:t>
            </a:r>
          </a:p>
          <a:p>
            <a:pPr algn="ctr"/>
            <a:r>
              <a:rPr lang="fr-FR" sz="3200" b="1" dirty="0" smtClean="0">
                <a:solidFill>
                  <a:schemeClr val="tx1"/>
                </a:solidFill>
              </a:rPr>
              <a:t>-SE</a:t>
            </a:r>
          </a:p>
          <a:p>
            <a:pPr algn="ctr"/>
            <a:r>
              <a:rPr lang="fr-FR" sz="3200" b="1" dirty="0" smtClean="0">
                <a:solidFill>
                  <a:schemeClr val="tx1"/>
                </a:solidFill>
              </a:rPr>
              <a:t>-MAX</a:t>
            </a:r>
          </a:p>
          <a:p>
            <a:pPr algn="ctr"/>
            <a:r>
              <a:rPr lang="fr-FR" sz="3200" b="1" dirty="0" smtClean="0">
                <a:solidFill>
                  <a:schemeClr val="tx1"/>
                </a:solidFill>
              </a:rPr>
              <a:t>-Magomat</a:t>
            </a:r>
            <a:endParaRPr lang="fr-FR" sz="3200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162525" y="1916832"/>
            <a:ext cx="3168352" cy="453650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 smtClean="0">
                <a:solidFill>
                  <a:schemeClr val="tx1"/>
                </a:solidFill>
              </a:rPr>
              <a:t>-Cartoucheuse</a:t>
            </a:r>
          </a:p>
          <a:p>
            <a:pPr algn="ctr"/>
            <a:r>
              <a:rPr lang="fr-FR" sz="2800" b="1" dirty="0" smtClean="0">
                <a:solidFill>
                  <a:schemeClr val="tx1"/>
                </a:solidFill>
              </a:rPr>
              <a:t>-Cellophaneuse</a:t>
            </a:r>
            <a:endParaRPr lang="fr-FR" sz="2800" b="1" dirty="0">
              <a:solidFill>
                <a:schemeClr val="tx1"/>
              </a:solidFill>
            </a:endParaRPr>
          </a:p>
        </p:txBody>
      </p:sp>
      <p:sp>
        <p:nvSpPr>
          <p:cNvPr id="9" name="Flèche droite 8"/>
          <p:cNvSpPr/>
          <p:nvPr/>
        </p:nvSpPr>
        <p:spPr>
          <a:xfrm>
            <a:off x="4067944" y="3645024"/>
            <a:ext cx="936104" cy="7920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/>
          <p:nvPr/>
        </p:nvSpPr>
        <p:spPr>
          <a:xfrm>
            <a:off x="683568" y="2060848"/>
            <a:ext cx="2880320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/>
              <a:t>Confectionneuse</a:t>
            </a:r>
            <a:endParaRPr lang="fr-FR" sz="2400" b="1" dirty="0"/>
          </a:p>
        </p:txBody>
      </p:sp>
      <p:sp>
        <p:nvSpPr>
          <p:cNvPr id="16" name="Rectangle 15"/>
          <p:cNvSpPr/>
          <p:nvPr/>
        </p:nvSpPr>
        <p:spPr>
          <a:xfrm>
            <a:off x="5436096" y="2060848"/>
            <a:ext cx="2664296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/>
              <a:t>Empaqueteuse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3657331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2E39-D56D-4300-A995-ACA482FEB4BB}" type="slidenum">
              <a:rPr lang="fr-FR" altLang="en-US" smtClean="0"/>
              <a:pPr/>
              <a:t>7</a:t>
            </a:fld>
            <a:endParaRPr lang="fr-FR" altLang="en-US" dirty="0"/>
          </a:p>
        </p:txBody>
      </p:sp>
      <p:sp>
        <p:nvSpPr>
          <p:cNvPr id="5" name="Rectangle 4"/>
          <p:cNvSpPr/>
          <p:nvPr/>
        </p:nvSpPr>
        <p:spPr>
          <a:xfrm>
            <a:off x="6876256" y="255340"/>
            <a:ext cx="1944216" cy="172819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Tabac brute séché</a:t>
            </a:r>
            <a:endParaRPr lang="fr-FR" dirty="0"/>
          </a:p>
        </p:txBody>
      </p:sp>
      <p:sp>
        <p:nvSpPr>
          <p:cNvPr id="6" name="Ellipse 5"/>
          <p:cNvSpPr/>
          <p:nvPr/>
        </p:nvSpPr>
        <p:spPr>
          <a:xfrm>
            <a:off x="4815458" y="588393"/>
            <a:ext cx="1376722" cy="1195536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VE</a:t>
            </a:r>
            <a:endParaRPr lang="fr-FR" dirty="0"/>
          </a:p>
        </p:txBody>
      </p:sp>
      <p:sp>
        <p:nvSpPr>
          <p:cNvPr id="8" name="Ellipse 7"/>
          <p:cNvSpPr/>
          <p:nvPr/>
        </p:nvSpPr>
        <p:spPr>
          <a:xfrm>
            <a:off x="2729905" y="631801"/>
            <a:ext cx="1406549" cy="1152128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SE</a:t>
            </a:r>
            <a:endParaRPr lang="fr-FR" dirty="0"/>
          </a:p>
        </p:txBody>
      </p:sp>
      <p:sp>
        <p:nvSpPr>
          <p:cNvPr id="9" name="Rectangle à coins arrondis 8"/>
          <p:cNvSpPr/>
          <p:nvPr/>
        </p:nvSpPr>
        <p:spPr>
          <a:xfrm>
            <a:off x="755576" y="2708920"/>
            <a:ext cx="1836203" cy="1767569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MAGOMAT</a:t>
            </a:r>
            <a:endParaRPr lang="fr-FR" dirty="0"/>
          </a:p>
        </p:txBody>
      </p:sp>
      <p:sp>
        <p:nvSpPr>
          <p:cNvPr id="11" name="Rectangle à coins arrondis 10"/>
          <p:cNvSpPr/>
          <p:nvPr/>
        </p:nvSpPr>
        <p:spPr>
          <a:xfrm>
            <a:off x="259371" y="5301208"/>
            <a:ext cx="2520280" cy="1296144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</a:t>
            </a:r>
            <a:r>
              <a:rPr lang="fr-FR" dirty="0" smtClean="0"/>
              <a:t>artoucheuse</a:t>
            </a:r>
            <a:endParaRPr lang="fr-FR" dirty="0"/>
          </a:p>
        </p:txBody>
      </p:sp>
      <p:sp>
        <p:nvSpPr>
          <p:cNvPr id="12" name="Rectangle à coins arrondis 11"/>
          <p:cNvSpPr/>
          <p:nvPr/>
        </p:nvSpPr>
        <p:spPr>
          <a:xfrm>
            <a:off x="3563888" y="5337212"/>
            <a:ext cx="2376264" cy="12241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</a:t>
            </a:r>
            <a:r>
              <a:rPr lang="fr-FR" dirty="0" smtClean="0"/>
              <a:t>ellophaneuse</a:t>
            </a:r>
            <a:endParaRPr lang="fr-FR" dirty="0"/>
          </a:p>
        </p:txBody>
      </p:sp>
      <p:sp>
        <p:nvSpPr>
          <p:cNvPr id="13" name="Flèche gauche 12"/>
          <p:cNvSpPr/>
          <p:nvPr/>
        </p:nvSpPr>
        <p:spPr>
          <a:xfrm>
            <a:off x="6336196" y="955837"/>
            <a:ext cx="504056" cy="50405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Flèche gauche 13"/>
          <p:cNvSpPr/>
          <p:nvPr/>
        </p:nvSpPr>
        <p:spPr>
          <a:xfrm>
            <a:off x="4218062" y="934133"/>
            <a:ext cx="504056" cy="50405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Flèche gauche 14"/>
          <p:cNvSpPr/>
          <p:nvPr/>
        </p:nvSpPr>
        <p:spPr>
          <a:xfrm rot="16200000">
            <a:off x="1267483" y="1992313"/>
            <a:ext cx="504056" cy="50405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Flèche gauche 16"/>
          <p:cNvSpPr/>
          <p:nvPr/>
        </p:nvSpPr>
        <p:spPr>
          <a:xfrm rot="10800000">
            <a:off x="2987824" y="5697252"/>
            <a:ext cx="504056" cy="50405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Flèche gauche 17"/>
          <p:cNvSpPr/>
          <p:nvPr/>
        </p:nvSpPr>
        <p:spPr>
          <a:xfrm rot="16200000">
            <a:off x="1421649" y="4653136"/>
            <a:ext cx="504056" cy="50405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/>
          <p:cNvSpPr/>
          <p:nvPr/>
        </p:nvSpPr>
        <p:spPr>
          <a:xfrm>
            <a:off x="72008" y="3337756"/>
            <a:ext cx="683568" cy="648072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/>
          <p:cNvSpPr/>
          <p:nvPr/>
        </p:nvSpPr>
        <p:spPr>
          <a:xfrm>
            <a:off x="6588224" y="5157192"/>
            <a:ext cx="576064" cy="648072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/>
          <p:cNvSpPr/>
          <p:nvPr/>
        </p:nvSpPr>
        <p:spPr>
          <a:xfrm>
            <a:off x="6984268" y="5866953"/>
            <a:ext cx="576064" cy="648072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/>
          <p:cNvSpPr/>
          <p:nvPr/>
        </p:nvSpPr>
        <p:spPr>
          <a:xfrm>
            <a:off x="6192180" y="5866953"/>
            <a:ext cx="576064" cy="648072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/>
          <p:cNvSpPr/>
          <p:nvPr/>
        </p:nvSpPr>
        <p:spPr>
          <a:xfrm>
            <a:off x="57350" y="3301752"/>
            <a:ext cx="135446" cy="72008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/>
          <p:cNvSpPr/>
          <p:nvPr/>
        </p:nvSpPr>
        <p:spPr>
          <a:xfrm>
            <a:off x="310165" y="3301752"/>
            <a:ext cx="135446" cy="72008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/>
          <p:cNvSpPr/>
          <p:nvPr/>
        </p:nvSpPr>
        <p:spPr>
          <a:xfrm>
            <a:off x="539552" y="3301752"/>
            <a:ext cx="135446" cy="72008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Ellipse 26"/>
          <p:cNvSpPr/>
          <p:nvPr/>
        </p:nvSpPr>
        <p:spPr>
          <a:xfrm>
            <a:off x="539552" y="588393"/>
            <a:ext cx="1500435" cy="1195536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MAX</a:t>
            </a:r>
            <a:endParaRPr lang="fr-FR" dirty="0"/>
          </a:p>
        </p:txBody>
      </p:sp>
      <p:sp>
        <p:nvSpPr>
          <p:cNvPr id="28" name="Flèche gauche 27"/>
          <p:cNvSpPr/>
          <p:nvPr/>
        </p:nvSpPr>
        <p:spPr>
          <a:xfrm>
            <a:off x="2087723" y="907196"/>
            <a:ext cx="504056" cy="50405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1165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2E39-D56D-4300-A995-ACA482FEB4BB}" type="slidenum">
              <a:rPr lang="fr-FR" altLang="en-US" smtClean="0"/>
              <a:pPr/>
              <a:t>8</a:t>
            </a:fld>
            <a:endParaRPr lang="fr-FR" altLang="en-US" dirty="0"/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493204" y="5805264"/>
            <a:ext cx="8229600" cy="720080"/>
          </a:xfrm>
        </p:spPr>
        <p:txBody>
          <a:bodyPr/>
          <a:lstStyle/>
          <a:p>
            <a:pPr algn="ctr"/>
            <a:r>
              <a:rPr lang="fr-FR" dirty="0" smtClean="0"/>
              <a:t>Confectionneuse Protos 90E</a:t>
            </a:r>
            <a:endParaRPr lang="fr-FR" dirty="0"/>
          </a:p>
        </p:txBody>
      </p:sp>
      <p:pic>
        <p:nvPicPr>
          <p:cNvPr id="5" name="Picture 3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332656"/>
            <a:ext cx="8568952" cy="532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981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="" xmlns:a16="http://schemas.microsoft.com/office/drawing/2014/main" id="{48E484CE-6AFA-4E60-957F-B03DDD4253E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altLang="en-US" b="1" dirty="0" smtClean="0">
                <a:solidFill>
                  <a:schemeClr val="bg2"/>
                </a:solidFill>
              </a:rPr>
              <a:t>Etude de cas</a:t>
            </a:r>
            <a:endParaRPr lang="fr-FR" altLang="en-US" b="1" dirty="0">
              <a:solidFill>
                <a:schemeClr val="bg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C383665-9F32-4964-AF0F-66AE66C72F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8FCAC8-EC55-42AE-B5AD-B5ADD0CCA630}" type="slidenum">
              <a:rPr lang="fr-FR" altLang="en-US"/>
              <a:pPr/>
              <a:t>9</a:t>
            </a:fld>
            <a:endParaRPr lang="fr-F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692696"/>
            <a:ext cx="8219256" cy="70384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400" b="1" dirty="0"/>
              <a:t/>
            </a:r>
            <a:br>
              <a:rPr lang="fr-FR" sz="4400" b="1" dirty="0"/>
            </a:br>
            <a:r>
              <a:rPr lang="fr-FR" sz="4400" b="1" dirty="0"/>
              <a:t/>
            </a:r>
            <a:br>
              <a:rPr lang="fr-FR" sz="4400" b="1" dirty="0"/>
            </a:br>
            <a:r>
              <a:rPr lang="fr-FR" sz="4400" b="1" dirty="0" smtClean="0"/>
              <a:t>Problématique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fr-FR" dirty="0"/>
              <a:t>Dans le cadre d’amélioration  de rendement de département empaquetage des cigarettes. Ce projet est destiné pour l’étude et l’analyse des sources de gaspillage de </a:t>
            </a:r>
            <a:r>
              <a:rPr lang="fr-FR" dirty="0" smtClean="0"/>
              <a:t>papier aluminium et aux vignettes de renfort aux </a:t>
            </a:r>
            <a:r>
              <a:rPr lang="fr-FR" dirty="0"/>
              <a:t>niveaux de la ligne de l’empaqueteuse </a:t>
            </a:r>
            <a:r>
              <a:rPr lang="fr-FR" dirty="0" err="1"/>
              <a:t>Focke&amp;Co</a:t>
            </a:r>
            <a:r>
              <a:rPr lang="fr-FR" dirty="0"/>
              <a:t> F5. 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2E39-D56D-4300-A995-ACA482FEB4BB}" type="slidenum">
              <a:rPr lang="fr-FR" altLang="en-US" smtClean="0"/>
              <a:pPr/>
              <a:t>10</a:t>
            </a:fld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4269628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457200" y="5877272"/>
            <a:ext cx="8229600" cy="781864"/>
          </a:xfrm>
        </p:spPr>
        <p:txBody>
          <a:bodyPr/>
          <a:lstStyle/>
          <a:p>
            <a:pPr algn="ctr"/>
            <a:r>
              <a:rPr lang="fr-FR" dirty="0" smtClean="0"/>
              <a:t>Empaqueteuse </a:t>
            </a:r>
            <a:r>
              <a:rPr lang="fr-FR" dirty="0" err="1" smtClean="0"/>
              <a:t>Focke&amp;Co</a:t>
            </a:r>
            <a:r>
              <a:rPr lang="fr-FR" dirty="0" smtClean="0"/>
              <a:t> F5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2E39-D56D-4300-A995-ACA482FEB4BB}" type="slidenum">
              <a:rPr lang="fr-FR" altLang="en-US" smtClean="0"/>
              <a:pPr/>
              <a:t>11</a:t>
            </a:fld>
            <a:endParaRPr lang="fr-FR" altLang="en-US" dirty="0"/>
          </a:p>
        </p:txBody>
      </p:sp>
      <p:pic>
        <p:nvPicPr>
          <p:cNvPr id="5" name="Image 4" descr="C:\Users\psnbj\Desktop\Rnta 2022\272630470_359028596224535_4583675944307379370_n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60648"/>
            <a:ext cx="8424936" cy="5400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3005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dirty="0" smtClean="0"/>
              <a:t>Fonctionnement de la machine actuelle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fr-FR" dirty="0" smtClean="0"/>
              <a:t>Lors du regroupement des cigarettes dans la pochette du tapis par 20 , un capteur de poids va détecter s’il y a un défaut dans l’ensemble :si ce capteur détecte un défaut l’</a:t>
            </a:r>
            <a:r>
              <a:rPr lang="fr-FR" dirty="0"/>
              <a:t>é</a:t>
            </a:r>
            <a:r>
              <a:rPr lang="fr-FR" dirty="0" smtClean="0"/>
              <a:t>tape suivante sera l’emballage avec du papier aluminium et l’accompagnement d’une vignette en carton puis l’éjection de l’ensemble prendra lieu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2E39-D56D-4300-A995-ACA482FEB4BB}" type="slidenum">
              <a:rPr lang="fr-FR" altLang="en-US" smtClean="0"/>
              <a:pPr/>
              <a:t>12</a:t>
            </a:fld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3828344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395536" y="5949280"/>
            <a:ext cx="8229600" cy="78296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/>
              <a:t>Déchet éjecté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2E39-D56D-4300-A995-ACA482FEB4BB}" type="slidenum">
              <a:rPr lang="fr-FR" altLang="en-US" smtClean="0"/>
              <a:pPr/>
              <a:t>13</a:t>
            </a:fld>
            <a:endParaRPr lang="fr-F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32656"/>
            <a:ext cx="8136904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4519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 smtClean="0"/>
              <a:t>Solution adaptée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fr-FR" dirty="0" smtClean="0"/>
              <a:t>Pour diminuer le taux de gaspillage de papier lors de l’</a:t>
            </a:r>
            <a:r>
              <a:rPr lang="fr-FR" dirty="0"/>
              <a:t>é</a:t>
            </a:r>
            <a:r>
              <a:rPr lang="fr-FR" dirty="0" smtClean="0"/>
              <a:t>jection des cigarettes défectueuses, j’ai proposer d’ajouter un système d’éjection de cigarettes avant l’</a:t>
            </a:r>
            <a:r>
              <a:rPr lang="fr-FR" dirty="0"/>
              <a:t>é</a:t>
            </a:r>
            <a:r>
              <a:rPr lang="fr-FR" dirty="0" smtClean="0"/>
              <a:t>tape d’emballage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2E39-D56D-4300-A995-ACA482FEB4BB}" type="slidenum">
              <a:rPr lang="fr-FR" altLang="en-US" smtClean="0"/>
              <a:pPr/>
              <a:t>14</a:t>
            </a:fld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739212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dirty="0" smtClean="0"/>
              <a:t>Composants du nouveau </a:t>
            </a:r>
            <a:br>
              <a:rPr lang="fr-FR" dirty="0" smtClean="0"/>
            </a:br>
            <a:r>
              <a:rPr lang="fr-FR" dirty="0" smtClean="0"/>
              <a:t>système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ctr"/>
            <a:r>
              <a:rPr lang="fr-FR" dirty="0"/>
              <a:t>3</a:t>
            </a:r>
            <a:r>
              <a:rPr lang="fr-FR" dirty="0" smtClean="0"/>
              <a:t>Vérin </a:t>
            </a:r>
            <a:r>
              <a:rPr lang="fr-FR" dirty="0"/>
              <a:t>pneumatique double action mors d’éjection</a:t>
            </a:r>
          </a:p>
          <a:p>
            <a:pPr lvl="0" algn="ctr"/>
            <a:r>
              <a:rPr lang="fr-FR" dirty="0"/>
              <a:t>3Distributeur pneumatique double effets</a:t>
            </a:r>
          </a:p>
          <a:p>
            <a:pPr lvl="0" algn="ctr"/>
            <a:r>
              <a:rPr lang="fr-FR" dirty="0"/>
              <a:t>9Capteurs </a:t>
            </a:r>
          </a:p>
          <a:p>
            <a:pPr lvl="0" algn="ctr"/>
            <a:r>
              <a:rPr lang="fr-FR" dirty="0"/>
              <a:t>Armoire électriques</a:t>
            </a:r>
          </a:p>
          <a:p>
            <a:pPr lvl="0" algn="ctr"/>
            <a:r>
              <a:rPr lang="fr-FR" dirty="0"/>
              <a:t>1 Moteur triphasée </a:t>
            </a:r>
          </a:p>
          <a:p>
            <a:pPr lvl="0" algn="ctr"/>
            <a:r>
              <a:rPr lang="fr-FR" dirty="0"/>
              <a:t>1 Moteur monophasée </a:t>
            </a:r>
          </a:p>
          <a:p>
            <a:pPr lvl="0" algn="ctr"/>
            <a:r>
              <a:rPr lang="fr-FR" dirty="0"/>
              <a:t>Tapis à pochettes</a:t>
            </a:r>
          </a:p>
          <a:p>
            <a:pPr lvl="0" algn="ctr"/>
            <a:r>
              <a:rPr lang="fr-FR" dirty="0"/>
              <a:t>Couloire métallique +bac de cote</a:t>
            </a:r>
          </a:p>
          <a:p>
            <a:pPr algn="ctr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2E39-D56D-4300-A995-ACA482FEB4BB}" type="slidenum">
              <a:rPr lang="fr-FR" altLang="en-US" smtClean="0"/>
              <a:pPr/>
              <a:t>15</a:t>
            </a:fld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3604127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2E39-D56D-4300-A995-ACA482FEB4BB}" type="slidenum">
              <a:rPr lang="fr-FR" altLang="en-US" smtClean="0"/>
              <a:pPr/>
              <a:t>16</a:t>
            </a:fld>
            <a:endParaRPr lang="fr-FR" altLang="en-US" dirty="0"/>
          </a:p>
        </p:txBody>
      </p:sp>
      <p:pic>
        <p:nvPicPr>
          <p:cNvPr id="5" name="Espace réservé du contenu 4" descr="C:\Users\psnbj\OneDrive\Pictures\Screenshots\Screenshot (20)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61537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dirty="0" smtClean="0"/>
              <a:t>Cycle de fonctionnement de l’éjecteur de cigarettes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Lors de la détection d’un défaut dans les cigarettes par le détecteur C3 (capteur de poids de cigarettes, le vérin pneumatique n°2 éjecte l’ensemble de 20 cigarettes hors de la pochette du tapis dans un couloir métallique ou  les cigarettes défectueux sont stocké dans la bac de cote pour les recycler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2E39-D56D-4300-A995-ACA482FEB4BB}" type="slidenum">
              <a:rPr lang="fr-FR" altLang="en-US" smtClean="0"/>
              <a:pPr/>
              <a:t>17</a:t>
            </a:fld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42327306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="" xmlns:a16="http://schemas.microsoft.com/office/drawing/2014/main" id="{6BDFA22A-C670-4148-88B1-E8E4F757D0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altLang="en-US" b="1" dirty="0">
                <a:solidFill>
                  <a:schemeClr val="bg2"/>
                </a:solidFill>
              </a:rPr>
              <a:t>Conclusion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="" xmlns:a16="http://schemas.microsoft.com/office/drawing/2014/main" id="{25CEF9F5-02E6-481F-B99E-EE9E6DA941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7544" y="1988840"/>
            <a:ext cx="8229600" cy="3886200"/>
          </a:xfrm>
        </p:spPr>
        <p:txBody>
          <a:bodyPr>
            <a:normAutofit/>
          </a:bodyPr>
          <a:lstStyle/>
          <a:p>
            <a:pPr lvl="1"/>
            <a:r>
              <a:rPr lang="fr-FR" altLang="en-US" sz="2800" dirty="0" smtClean="0">
                <a:solidFill>
                  <a:srgbClr val="002060"/>
                </a:solidFill>
              </a:rPr>
              <a:t>Je tire un bilan très positif de ce stage , j’ai fait une expérience très enrichissante sur le plan professionnel que personnel.</a:t>
            </a:r>
          </a:p>
          <a:p>
            <a:pPr lvl="1"/>
            <a:r>
              <a:rPr lang="fr-FR" altLang="en-US" sz="2800" dirty="0" smtClean="0">
                <a:solidFill>
                  <a:srgbClr val="002060"/>
                </a:solidFill>
              </a:rPr>
              <a:t>J’ai pu appréhender toutes les facettes de ce poste occupé ainsi l’importance du pratique et surtouts </a:t>
            </a:r>
            <a:r>
              <a:rPr lang="fr-FR" altLang="en-US" sz="2800" dirty="0" smtClean="0">
                <a:solidFill>
                  <a:srgbClr val="002060"/>
                </a:solidFill>
              </a:rPr>
              <a:t>la participation à l’</a:t>
            </a:r>
            <a:r>
              <a:rPr lang="fr-FR" altLang="en-US" sz="2800" dirty="0" err="1" smtClean="0">
                <a:solidFill>
                  <a:srgbClr val="002060"/>
                </a:solidFill>
              </a:rPr>
              <a:t>amémiortio</a:t>
            </a:r>
            <a:r>
              <a:rPr lang="fr-FR" altLang="en-US" sz="2800" dirty="0" err="1" smtClean="0">
                <a:solidFill>
                  <a:srgbClr val="002060"/>
                </a:solidFill>
              </a:rPr>
              <a:t>n</a:t>
            </a:r>
            <a:r>
              <a:rPr lang="fr-FR" altLang="en-US" sz="2800" dirty="0" smtClean="0">
                <a:solidFill>
                  <a:srgbClr val="002060"/>
                </a:solidFill>
              </a:rPr>
              <a:t> du rendement de l’empaqueteuse étudié ou j’ai pu utilisé mes connaissances .</a:t>
            </a:r>
            <a:endParaRPr lang="fr-FR" altLang="en-US" sz="2800" dirty="0">
              <a:solidFill>
                <a:srgbClr val="00206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3373A988-921A-49E1-96E9-8A09C3008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FBB6D-A52C-42F8-A6A1-F794B21B0493}" type="slidenum">
              <a:rPr lang="fr-FR" altLang="en-US"/>
              <a:pPr/>
              <a:t>18</a:t>
            </a:fld>
            <a:endParaRPr lang="fr-F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>
            <a:extLst>
              <a:ext uri="{FF2B5EF4-FFF2-40B4-BE49-F238E27FC236}">
                <a16:creationId xmlns="" xmlns:a16="http://schemas.microsoft.com/office/drawing/2014/main" id="{DE744E92-F1FA-4341-AEC1-EEA1730C0E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564904"/>
            <a:ext cx="8229600" cy="1371600"/>
          </a:xfrm>
        </p:spPr>
        <p:txBody>
          <a:bodyPr>
            <a:normAutofit/>
          </a:bodyPr>
          <a:lstStyle/>
          <a:p>
            <a:r>
              <a:rPr lang="fr-FR" altLang="en-US" sz="6000" b="1" dirty="0">
                <a:solidFill>
                  <a:schemeClr val="bg2"/>
                </a:solidFill>
                <a:latin typeface="Monotype Corsiva" panose="03010101010201010101" pitchFamily="66" charset="0"/>
              </a:rPr>
              <a:t>Merci de votre attention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035C84C-D2A1-450C-8802-E548073AB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DA268-E52C-4798-99EB-2E905C91D6DA}" type="slidenum">
              <a:rPr lang="fr-FR" altLang="en-US"/>
              <a:pPr/>
              <a:t>19</a:t>
            </a:fld>
            <a:endParaRPr lang="fr-F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nderie">
  <a:themeElements>
    <a:clrScheme name="Fonderie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Fonderie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Fonderie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934</TotalTime>
  <Words>522</Words>
  <Application>Microsoft Office PowerPoint</Application>
  <PresentationFormat>Affichage à l'écran (4:3)</PresentationFormat>
  <Paragraphs>82</Paragraphs>
  <Slides>19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0" baseType="lpstr">
      <vt:lpstr>Fonderie</vt:lpstr>
      <vt:lpstr>Présentation du stage de perfectionnement</vt:lpstr>
      <vt:lpstr>Plan</vt:lpstr>
      <vt:lpstr>Présentation de la société</vt:lpstr>
      <vt:lpstr>Présentation PowerPoint</vt:lpstr>
      <vt:lpstr>Contexte du stage</vt:lpstr>
      <vt:lpstr>Chaine de fabrication de cigarettes</vt:lpstr>
      <vt:lpstr>Présentation PowerPoint</vt:lpstr>
      <vt:lpstr>Présentation PowerPoint</vt:lpstr>
      <vt:lpstr>Etude de cas</vt:lpstr>
      <vt:lpstr>  Problématique</vt:lpstr>
      <vt:lpstr>Présentation PowerPoint</vt:lpstr>
      <vt:lpstr>Fonctionnement de la machine actuelle</vt:lpstr>
      <vt:lpstr>Déchet éjecté </vt:lpstr>
      <vt:lpstr>Solution adaptée</vt:lpstr>
      <vt:lpstr>Composants du nouveau  système</vt:lpstr>
      <vt:lpstr>Présentation PowerPoint</vt:lpstr>
      <vt:lpstr>Cycle de fonctionnement de l’éjecteur de cigarettes</vt:lpstr>
      <vt:lpstr>Conclusion</vt:lpstr>
      <vt:lpstr>Merci de votre attention</vt:lpstr>
    </vt:vector>
  </TitlesOfParts>
  <Company>ENSI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 présentation</dc:title>
  <dc:creator>ben jemaa aymen</dc:creator>
  <cp:lastModifiedBy>ben jemaa aymen</cp:lastModifiedBy>
  <cp:revision>137</cp:revision>
  <dcterms:created xsi:type="dcterms:W3CDTF">2000-01-01T00:26:12Z</dcterms:created>
  <dcterms:modified xsi:type="dcterms:W3CDTF">2022-02-27T13:07:47Z</dcterms:modified>
</cp:coreProperties>
</file>